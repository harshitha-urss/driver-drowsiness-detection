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77" r:id="rId6"/>
    <p:sldId id="265" r:id="rId7"/>
    <p:sldId id="278" r:id="rId8"/>
    <p:sldId id="276" r:id="rId9"/>
    <p:sldId id="274" r:id="rId10"/>
  </p:sldIdLst>
  <p:sldSz cx="12192000" cy="6858000"/>
  <p:notesSz cx="6858000" cy="9144000"/>
  <p:embeddedFontLst>
    <p:embeddedFont>
      <p:font typeface="Pinyon Script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+Eap8g7pNXZi5+OzScVxssLkL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D5C9AF3-8076-12FE-4A05-7BA269B9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>
            <a:extLst>
              <a:ext uri="{FF2B5EF4-FFF2-40B4-BE49-F238E27FC236}">
                <a16:creationId xmlns:a16="http://schemas.microsoft.com/office/drawing/2014/main" id="{A8FDEEE7-358D-F967-58A1-4AAB12B5C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>
            <a:extLst>
              <a:ext uri="{FF2B5EF4-FFF2-40B4-BE49-F238E27FC236}">
                <a16:creationId xmlns:a16="http://schemas.microsoft.com/office/drawing/2014/main" id="{EF564B9A-CE78-73E9-4DEA-91C3B926FB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3292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B9529592-AF5D-0B51-58DC-701046E9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414CD7D7-8C0A-391F-31CC-C3D605EA9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9:notes">
            <a:extLst>
              <a:ext uri="{FF2B5EF4-FFF2-40B4-BE49-F238E27FC236}">
                <a16:creationId xmlns:a16="http://schemas.microsoft.com/office/drawing/2014/main" id="{5679EDB3-271A-2F4E-08C0-FEA786C7B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590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0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2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8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0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0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9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/>
        </p:nvSpPr>
        <p:spPr>
          <a:xfrm>
            <a:off x="2414574" y="1426075"/>
            <a:ext cx="80607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Driver Drowsiness Detection System using Computer vision</a:t>
            </a:r>
            <a:endParaRPr lang="en-US" sz="1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01128" y="3666231"/>
            <a:ext cx="5573548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7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2000" b="1" i="0" u="none" strike="noStrike" cap="none" dirty="0">
              <a:solidFill>
                <a:srgbClr val="178DB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178D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lang="en-US"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44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HARSHITHA M V</a:t>
            </a:r>
            <a:r>
              <a:rPr lang="en-US" sz="4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	1AY22AI038</a:t>
            </a:r>
            <a:endParaRPr lang="en-US" sz="20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525870" y="3778823"/>
            <a:ext cx="3581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25000" lnSpcReduction="20000"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4400" b="1" i="0" u="none" strike="noStrike" cap="none" dirty="0">
              <a:solidFill>
                <a:srgbClr val="178DB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178D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IN" sz="9600" b="1" dirty="0">
                <a:solidFill>
                  <a:srgbClr val="178DBB"/>
                </a:solidFill>
                <a:latin typeface="Times New Roman"/>
                <a:cs typeface="Times New Roman"/>
                <a:sym typeface="Times New Roman"/>
              </a:rPr>
              <a:t>Dr </a:t>
            </a:r>
            <a:r>
              <a:rPr lang="en-IN" sz="9600" b="1" dirty="0" err="1">
                <a:solidFill>
                  <a:srgbClr val="178DBB"/>
                </a:solidFill>
                <a:latin typeface="Times New Roman"/>
                <a:cs typeface="Times New Roman"/>
                <a:sym typeface="Times New Roman"/>
              </a:rPr>
              <a:t>Vijayashekar</a:t>
            </a:r>
            <a:r>
              <a:rPr lang="en-IN" sz="9600" b="1" dirty="0">
                <a:solidFill>
                  <a:srgbClr val="178DBB"/>
                </a:solidFill>
                <a:latin typeface="Times New Roman"/>
                <a:cs typeface="Times New Roman"/>
                <a:sym typeface="Times New Roman"/>
              </a:rPr>
              <a:t> S </a:t>
            </a:r>
            <a:r>
              <a:rPr lang="en-IN" sz="9600" b="1" dirty="0" err="1">
                <a:solidFill>
                  <a:srgbClr val="178DBB"/>
                </a:solidFill>
                <a:latin typeface="Times New Roman"/>
                <a:cs typeface="Times New Roman"/>
                <a:sym typeface="Times New Roman"/>
              </a:rPr>
              <a:t>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9600" b="1" i="0" u="none" strike="noStrike" cap="none" dirty="0" err="1">
                <a:solidFill>
                  <a:srgbClr val="178D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HoD</a:t>
            </a:r>
            <a:r>
              <a:rPr lang="en-US" sz="9600" b="1" i="0" u="none" strike="noStrike" cap="none" dirty="0">
                <a:solidFill>
                  <a:srgbClr val="178D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Dept of AI&amp;ML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4400" b="1" i="0" u="none" strike="noStrike" cap="none" dirty="0">
              <a:solidFill>
                <a:srgbClr val="178DB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" descr="blob:https://web.whatsapp.com/fe18bbfe-2c3e-4747-a5e6-f836e5b16ecb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 descr="blob:https://web.whatsapp.com/fe18bbfe-2c3e-4747-a5e6-f836e5b16ecb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 descr="blob:https://web.whatsapp.com/fe18bbfe-2c3e-4747-a5e6-f836e5b16ecb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500" y="237498"/>
            <a:ext cx="1943100" cy="15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2774313" y="459800"/>
            <a:ext cx="685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VISVESVARAYA TECHNOLOGICAL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Belgaum - 590 018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DEPARTMENT OF ARTIFICIAL INTELLIGENCE AND MACHINE LEARNING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 </a:t>
            </a:r>
            <a:endParaRPr dirty="0"/>
          </a:p>
        </p:txBody>
      </p:sp>
      <p:sp>
        <p:nvSpPr>
          <p:cNvPr id="115" name="Google Shape;115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10014" y="237503"/>
            <a:ext cx="1535691" cy="1450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>
            <a:spLocks noGrp="1"/>
          </p:cNvSpPr>
          <p:nvPr>
            <p:ph type="title"/>
          </p:nvPr>
        </p:nvSpPr>
        <p:spPr>
          <a:xfrm>
            <a:off x="1068387" y="34079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dirty="0"/>
          </a:p>
        </p:txBody>
      </p:sp>
      <p:sp>
        <p:nvSpPr>
          <p:cNvPr id="122" name="Google Shape;122;p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3434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23" name="Google Shape;123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/>
          </a:p>
        </p:txBody>
      </p:sp>
      <p:sp>
        <p:nvSpPr>
          <p:cNvPr id="131" name="Google Shape;131;p3"/>
          <p:cNvSpPr txBox="1">
            <a:spLocks noGrp="1"/>
          </p:cNvSpPr>
          <p:nvPr>
            <p:ph type="body" idx="1"/>
          </p:nvPr>
        </p:nvSpPr>
        <p:spPr>
          <a:xfrm>
            <a:off x="1097280" y="2029968"/>
            <a:ext cx="10058400" cy="351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indent="0" algn="just">
              <a:spcBef>
                <a:spcPts val="0"/>
              </a:spcBef>
              <a:buSzPts val="20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one of the major causes of road accidents worldwide, leading to loss of lives and property. Continuous monitoring of a driver’s alertness is therefore essential to ensure road safety. This project presents a Universal Driver Drowsiness Detection System based on real-time computer vision techniques.</a:t>
            </a:r>
          </a:p>
          <a:p>
            <a:pPr marL="91440" indent="0" algn="just">
              <a:spcBef>
                <a:spcPts val="0"/>
              </a:spcBef>
              <a:buSzPts val="2000"/>
              <a:buNone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0" algn="just">
              <a:spcBef>
                <a:spcPts val="0"/>
              </a:spcBef>
              <a:buSzPts val="20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Python, OpenCV, Flask,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cost-effective, fast, and reliable. The use of a web-based interface allows real-time monitoring through a browser.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3" name="Google Shape;133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141" name="Google Shape;141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DEPARTMENT OF ARTIFICIAL INTELLIGENCE AND MACHINE LEARNING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ACHARYA INSTITUTE OF TECHNOLOGY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64489-A822-847D-AF50-5BE0E9857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54083" y="1737360"/>
            <a:ext cx="10058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Driver drowsiness is a major cause of road accidents due to reduced alertness, slow reaction time, and loss of concentration.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Traditional safety systems cannot monitor the mental state of the driver in real-time.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proposes a real-time Driver Drowsiness Detection System using Computer Vision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continuously monitors eye activity and triggers an alarm when drowsiness is detected, ensuring enhanced road safety.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CC3A1D18-8DFE-7551-3BCD-F2B6AA0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>
            <a:extLst>
              <a:ext uri="{FF2B5EF4-FFF2-40B4-BE49-F238E27FC236}">
                <a16:creationId xmlns:a16="http://schemas.microsoft.com/office/drawing/2014/main" id="{BEDFB57A-13AB-68FE-1870-B2DC525DF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sp>
        <p:nvSpPr>
          <p:cNvPr id="167" name="Google Shape;167;p7">
            <a:extLst>
              <a:ext uri="{FF2B5EF4-FFF2-40B4-BE49-F238E27FC236}">
                <a16:creationId xmlns:a16="http://schemas.microsoft.com/office/drawing/2014/main" id="{3894A90B-3C15-A22A-C12C-FD09AA032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7280" y="173736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of road accidents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 due to driver fatigue.</a:t>
            </a:r>
          </a:p>
          <a:p>
            <a:pPr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alert mechanism exists in most vehicles.</a:t>
            </a:r>
          </a:p>
          <a:p>
            <a:pPr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life is highly dependent on timely fatigue detection.</a:t>
            </a:r>
          </a:p>
          <a:p>
            <a:pPr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unreliable and impractical.</a:t>
            </a:r>
          </a:p>
          <a:p>
            <a:pPr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automated, real-time, intelligent safety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8" name="Google Shape;168;p7">
            <a:extLst>
              <a:ext uri="{FF2B5EF4-FFF2-40B4-BE49-F238E27FC236}">
                <a16:creationId xmlns:a16="http://schemas.microsoft.com/office/drawing/2014/main" id="{834B404A-54E3-F26F-7541-3A54FAE842A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 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9" name="Google Shape;169;p7">
            <a:extLst>
              <a:ext uri="{FF2B5EF4-FFF2-40B4-BE49-F238E27FC236}">
                <a16:creationId xmlns:a16="http://schemas.microsoft.com/office/drawing/2014/main" id="{801F5ABE-DFD4-8E7B-8F20-C3FC1D9B42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0" name="Google Shape;170;p7">
            <a:extLst>
              <a:ext uri="{FF2B5EF4-FFF2-40B4-BE49-F238E27FC236}">
                <a16:creationId xmlns:a16="http://schemas.microsoft.com/office/drawing/2014/main" id="{60B2D1AB-8CE4-6539-D734-EF95D86C18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00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dirty="0"/>
          </a:p>
        </p:txBody>
      </p:sp>
      <p:sp>
        <p:nvSpPr>
          <p:cNvPr id="195" name="Google Shape;195;p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6" name="Google Shape;196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97" name="Google Shape;19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Content Placeholder 5" descr="A flowchart of a computer program&#10;&#10;AI-generated content may be incorrect.">
            <a:extLst>
              <a:ext uri="{FF2B5EF4-FFF2-40B4-BE49-F238E27FC236}">
                <a16:creationId xmlns:a16="http://schemas.microsoft.com/office/drawing/2014/main" id="{C81099F7-1961-52F4-3C5B-891709D92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9702" y="1749650"/>
            <a:ext cx="4822803" cy="447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4C3A6567-2192-41AB-C2CB-A9BB0BE9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>
            <a:extLst>
              <a:ext uri="{FF2B5EF4-FFF2-40B4-BE49-F238E27FC236}">
                <a16:creationId xmlns:a16="http://schemas.microsoft.com/office/drawing/2014/main" id="{792B4F71-DA62-5D20-D003-F08533A31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4000" dirty="0"/>
          </a:p>
        </p:txBody>
      </p:sp>
      <p:sp>
        <p:nvSpPr>
          <p:cNvPr id="195" name="Google Shape;195;p9">
            <a:extLst>
              <a:ext uri="{FF2B5EF4-FFF2-40B4-BE49-F238E27FC236}">
                <a16:creationId xmlns:a16="http://schemas.microsoft.com/office/drawing/2014/main" id="{E1320822-7F92-D5DD-B519-16CC1502DA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9E440DE6-1F3E-160C-60ED-DF6437ADC1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97" name="Google Shape;197;p9">
            <a:extLst>
              <a:ext uri="{FF2B5EF4-FFF2-40B4-BE49-F238E27FC236}">
                <a16:creationId xmlns:a16="http://schemas.microsoft.com/office/drawing/2014/main" id="{681A1C55-2C64-2A7B-F535-2D49EA5E86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C36731-F43F-4BEF-403A-7545222FFE1B}"/>
              </a:ext>
            </a:extLst>
          </p:cNvPr>
          <p:cNvSpPr txBox="1"/>
          <p:nvPr/>
        </p:nvSpPr>
        <p:spPr>
          <a:xfrm>
            <a:off x="1302232" y="1737360"/>
            <a:ext cx="6093372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video frames using OpenCV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grayscale for faster processing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face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eyes from face region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eye closure duration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fatigue score if eyes closed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alarm if threshold crossed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01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5AD0-B154-EF0B-75AC-FC268E6C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2CC75-E432-A357-B5FD-2DAF94D20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BE6462-72EC-F917-16BF-3290A404D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7639" y="1985545"/>
            <a:ext cx="101152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Driver Drowsiness Detection System successfully detects fatigue in real time using computer vision.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 webcam,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Cascade classifiers, and fatigue scoring to monitor eye activity continuously.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instant audio alarm is generated when drowsiness is detected, ensuring immediate alert to the driver.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68;p7">
            <a:extLst>
              <a:ext uri="{FF2B5EF4-FFF2-40B4-BE49-F238E27FC236}">
                <a16:creationId xmlns:a16="http://schemas.microsoft.com/office/drawing/2014/main" id="{DF1774F9-25FB-558A-6EBC-1745BC996C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200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>
            <a:spLocks noGrp="1"/>
          </p:cNvSpPr>
          <p:nvPr>
            <p:ph type="body" idx="1"/>
          </p:nvPr>
        </p:nvSpPr>
        <p:spPr>
          <a:xfrm>
            <a:off x="718907" y="141732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9144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Char char=" "/>
            </a:pPr>
            <a:r>
              <a:rPr lang="en-US" sz="13800" dirty="0">
                <a:solidFill>
                  <a:srgbClr val="8D4120"/>
                </a:solidFill>
                <a:latin typeface="Pinyon Script"/>
                <a:ea typeface="Pinyon Script"/>
                <a:cs typeface="Pinyon Script"/>
                <a:sym typeface="Pinyon Script"/>
              </a:rPr>
              <a:t>  </a:t>
            </a:r>
            <a:endParaRPr sz="4400" dirty="0"/>
          </a:p>
          <a:p>
            <a:pPr marL="91440" lvl="0" indent="-9144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6600"/>
              <a:buChar char=" "/>
            </a:pPr>
            <a:r>
              <a:rPr lang="en-US" sz="13800" dirty="0">
                <a:solidFill>
                  <a:srgbClr val="8D4120"/>
                </a:solidFill>
                <a:latin typeface="Pinyon Script"/>
                <a:ea typeface="Pinyon Script"/>
                <a:cs typeface="Pinyon Script"/>
                <a:sym typeface="Pinyon Script"/>
              </a:rPr>
              <a:t>Thank you</a:t>
            </a:r>
            <a:endParaRPr sz="13800" dirty="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6600"/>
              <a:buNone/>
            </a:pPr>
            <a:endParaRPr sz="13800" dirty="0"/>
          </a:p>
        </p:txBody>
      </p:sp>
      <p:sp>
        <p:nvSpPr>
          <p:cNvPr id="278" name="Google Shape;278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79" name="Google Shape;27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989" y="286603"/>
            <a:ext cx="1535691" cy="1450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;p7">
            <a:extLst>
              <a:ext uri="{FF2B5EF4-FFF2-40B4-BE49-F238E27FC236}">
                <a16:creationId xmlns:a16="http://schemas.microsoft.com/office/drawing/2014/main" id="{1A12DA26-3E2D-FEB1-AA53-4D593AA03EA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</a:rPr>
              <a:t>DEPARTMENT OF ARTIFICIAL INTELLIGENCE AND MACHINE LEARNING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ACHARYA INSTITUTE OF TECHNOLOGY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476</Words>
  <Application>Microsoft Office PowerPoint</Application>
  <PresentationFormat>Widescreen</PresentationFormat>
  <Paragraphs>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Pinyon Script</vt:lpstr>
      <vt:lpstr>Retrospect</vt:lpstr>
      <vt:lpstr>PowerPoint Presentation</vt:lpstr>
      <vt:lpstr>Content</vt:lpstr>
      <vt:lpstr>Abstract</vt:lpstr>
      <vt:lpstr>Introduction</vt:lpstr>
      <vt:lpstr>Problem statement</vt:lpstr>
      <vt:lpstr>System Architecture</vt:lpstr>
      <vt:lpstr>METHODOLOGY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niraj</dc:creator>
  <cp:lastModifiedBy>Harshitha Aras</cp:lastModifiedBy>
  <cp:revision>22</cp:revision>
  <dcterms:created xsi:type="dcterms:W3CDTF">2024-03-22T10:12:46Z</dcterms:created>
  <dcterms:modified xsi:type="dcterms:W3CDTF">2025-12-09T09:32:55Z</dcterms:modified>
</cp:coreProperties>
</file>